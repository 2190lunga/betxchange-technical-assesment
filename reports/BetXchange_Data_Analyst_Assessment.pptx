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bet</a:t>
            </a:r>
            <a:r>
              <a:rPr sz="3600" b="1">
                <a:solidFill>
                  <a:srgbClr val="F5D54A"/>
                </a:solidFill>
                <a:latin typeface="Segoe UI"/>
              </a:rPr>
              <a:t>X</a:t>
            </a:r>
            <a:r>
              <a:rPr sz="36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BetXchange Data Analyst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D54A"/>
                </a:solidFill>
                <a:latin typeface="Segoe UI"/>
              </a:rPr>
              <a:t>Customer behaviour, product performance, retention, risk, and growth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[Your Name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AF9"/>
                </a:solidFill>
                <a:latin typeface="Segoe UI"/>
              </a:rPr>
              <a:t>Date: 2026-10-18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FEAF9"/>
                </a:solidFill>
                <a:latin typeface="Segoe UI"/>
              </a:rPr>
              <a:t>Data-driven view of customer value, loyalty, profitability, and risk exposure (May-July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Revenue is positive and growing; the real story is concentration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Operator revenue (stake minus payout) is positive and growing every month: +R7.4m (May) -&gt; +R9.9m (June) -&gt; +R16.6m (July), margin ~4.4%-5.7%.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Retention is strong: cohort-based retention rates are above 80% across the period, with newer cohorts retaining even better (90%-100%).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Revenue is highly concentrated: the top 1% of users (148 in July) generate 77% of that month's stake -- a dependency signal, not evidence of losses.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Key management focus: concentration risk, not profitability. A small group of high-stake users drives most volume and payout volatility.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hero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019" y="2650892"/>
            <a:ext cx="4983316" cy="2790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DATA OVERVIEW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Four verified sources, fully reproducible KPI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Sources: Users, Slips, and Transactions (3 monthly files each) plus GA4 website traffic exports -- the GA4 data was never ingested in the original pipeline and is now included.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Fixed a duplicate-row bug in the slip export (Total rows re-counted daily activity) and a join fan-out bug that had inflated product-level stake to impossible, trillion-rand figures.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Replaced unexplained fixed risk thresholds with documented, data-derived percentile thresholds that adapt to monthly volume.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Found a real data-governance gap: only 33% of transacting customers (7,918 of 24,142) have a matching row in the raw Users files -- the rest have no age/country on record at all.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Every KPI table and view is reproducible end-to-end from raw files; full methodology and every assumption is logged in docs/assumptions.md.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CUSTOMER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24,142 customers -- but age/country data only covers 33% of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24,142 distinct customers, 286,244 transactions, and R684.6m total stake across May-July.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Coverage limit: only 7,918 customers (33%) have a matching age/country record; the figures below describe that matched subset only, not the full customer base.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Among matched customers: the 35-44 age band is 49.3% of stake and 57.5% of operator revenue; South Africa is 97.8% of matched stake.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Average customer margin is 41.7% (unweighted) -- skewed upward by many small-stake customers; the revenue-weighted company margin is ~5%-6%.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hero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019" y="2350335"/>
            <a:ext cx="4983316" cy="33917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BETTING ACTIVITY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Casino leads, but the mix is broad and diversified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Casino is the largest product by modeled stake share (46.4% of July), followed by Sport (25.7%) and Aviator (14.2%).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Product-level figures are a modeled allocation (by each customer's slip-count share), not a direct measurement -- the raw transactions have no product field.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Transaction volume and active-customer counts both rise materially from May to July (+26% active customers).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Product mix supports both marketing investment and category-level commercial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Operator revenue is healthy and accelerating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Total stake grew from R168.2m (May) to R293.3m (July).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Operator revenue (BetXchange's gross gaming revenue) grew from +R7.4m to +R16.6m over the same period.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Operator margin improved from 4.4% to 5.7% -- within a typical bookmaker range.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This is healthy, expected bookmaker economics: customers losing money on balance is how a sportsbook/casino earns revenue, not a sign of distress.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hero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019" y="2643105"/>
            <a:ext cx="4983316" cy="28062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RETENTION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Repeat activity is strong and improving in newer cohorts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March 2024 cohort: 80.1% (May) -&gt; 82.2% (June) -&gt; 87.6% (July) retention.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Newer cohorts retain even better: the June 2024 cohort reaches 90.3% retention in July.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Retention is a strategically important, directly actionable lever for Warren (Operations) and Ryan (Growth).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Recommendation: protect high-retention cohorts with experience quality, and target engagement programmes at the lower-retention cohorts (2024/04, 2024/05).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reten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076" y="1737360"/>
            <a:ext cx="478520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RISK &amp; CONCENTRATION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Not losses -- concentration and payout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Large-stake transactions (above that month's own 95th percentile, R3,929 in July) account for 90.9% of stake volume.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The top 10 users hold 36.3% of July's stake; the top 1% (148 users) hold 77.3%.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11.6% of July transactions were customer wins -- the operator's real payout exposure.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This methodology cannot detect fraud, collusion, or multi-accounting: the data has no device, IP, payment-method, or account-linkage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hero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019" y="2652449"/>
            <a:ext cx="4983316" cy="2787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MARKETING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Website traffic is growing; channel-level claims are out of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GA4 website traffic grew from ~7.1m monthly page views (May) to ~8.7m (July), broadly in line with transaction growth.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~96% of website traffic comes from South Africa every month, consistent with BetXchange's core market.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This export has NO campaign, channel, or source/medium field, and cannot be linked to the betting user_id -- campaign effectiveness and acquisition-channel ROI cannot be measured from this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Recommendation for Gracia / governance: add UTM tagging and a login-linked identifier if channel-level marketing evaluation is required going forward.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STAKEHOLDER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Tailored actions for each business owner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Ryan (Growth): prioritise the strongest product categories; invest in retention for high-value cohorts.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Warren (Retention): focus engagement actions on lower-performing cohorts (2024/04, 2024/05).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Craig (Risk): monitor top-1%/top-10 stake share and large-payout review -- the priority is concentration, not losses.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Holly (Marketing): use verified traffic trends for funnel review; do not claim channel ROI without UTM-tagged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Gracia (Governance): maintain the raw-to-cleaned-to-KPI audit trail; keep docs/assumptions.md as the methodology source of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30 / 60 / 90 DAY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From validated insight to operational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608179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5953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30 days: finalise dashboard/KPI review with stakeholders; validate retention and concentration-risk metrics with business owners.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60 days: launch a targeted retention campaign; introduce a monitoring process for large individual payouts and top-user stake concentration.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53450"/>
                </a:solidFill>
                <a:latin typeface="Segoe UI"/>
              </a:rPr>
              <a:t>•  90 days: formal performance review cycle with stakeholder scorecards; quantify retention uplift, product growth, and concentration-risk reduction.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859" y="1600200"/>
            <a:ext cx="5257636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hero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019" y="2638433"/>
            <a:ext cx="4983316" cy="28155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EXPECTED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Predictable growth through retention and concentration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Revenue: stronger product contribution and reduced dependency on the top 1% of users supports more predictable, sustainable growth.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Retention: cohort-based retention is a strong lever for customer lifetime value.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Operations: cleaner, standardised KPI reporting improves stakeholder decision quality and speed.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Risk: stake-concentration monitoring (top-10/top-1% share) enables earlier intervention on dependency and payout-volatility risk.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bet</a:t>
            </a:r>
            <a:r>
              <a:rPr sz="1400" b="1">
                <a:solidFill>
                  <a:srgbClr val="F5D54A"/>
                </a:solidFill>
                <a:latin typeface="Segoe UI"/>
              </a:rPr>
              <a:t>X</a:t>
            </a:r>
            <a:r>
              <a:rPr sz="140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D54A"/>
                </a:solidFill>
                <a:latin typeface="Segoe UI"/>
              </a:rP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Revenue is healthy; concentration is the risk to manage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4892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BetXchange shows growing customer activity and positive, growing operator revenue (+R7.4m to +R16.6m, May-July) -- the earlier 'weak profitability' conclusion was based on an inverted metric and has been corrected.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Revenue and stake volume are highly concentrated in a small number of users -- this is the real exposure to manage, not a loss-making business.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53450"/>
                </a:solidFill>
                <a:latin typeface="Segoe UI"/>
              </a:rPr>
              <a:t>•  Next steps: finalise stakeholder review of dashboard outputs; confirm concentration-risk thresholds and retention definitions with business owners; prepare the data appendix and AI-assistance disclosure for governance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